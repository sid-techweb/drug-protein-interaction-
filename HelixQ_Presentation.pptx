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 am thrilled to present HelixQ, an enterprise-grade biotech platform engineered to solve the most critical bottleneck in modern drug discovery: high-throughput computational virtual screening.</a:t>
            </a:r>
          </a:p>
          <a:p/>
          <a:p>
            <a:r>
              <a:t>HelixQ bridges deep learning transformer protein sequence embeddings (ESM-2), RDKit molecular cheminformatics, and D-Wave quantum combinatorial optimization (QUBO) into a seamless, high-performance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Traditional drug discovery is bogged down by immense costs and decade-long timelines. Screening millions of small molecules physically in wet labs is practically impossible.</a:t>
            </a:r>
          </a:p>
          <a:p/>
          <a:p>
            <a:r>
              <a:t>Existing computational tools either take days to run docking simulations or pick lead compounds that all look almost identical, wasting experimental validation budgets on redundant analogues.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HelixQ's 4-stage screening workflow:</a:t>
            </a:r>
          </a:p>
          <a:p>
            <a:r>
              <a:t>Stage 1 fetches and validates protein sequence properties from UniProt.</a:t>
            </a:r>
          </a:p>
          <a:p>
            <a:r>
              <a:t>Stage 2 processes candidate drug libraries using RDKit for Lipinski filtering and Morgan Fingerprint encoding.</a:t>
            </a:r>
          </a:p>
          <a:p>
            <a:r>
              <a:t>Stage 3 applies our ESM-2 deep learning transformer cross-attention model to predict binding affinity (pKd).</a:t>
            </a:r>
          </a:p>
          <a:p>
            <a:r>
              <a:t>Stage 4 feeds these scores and Tanimoto distances into a D-Wave QUBO Hamiltonian solver to yield an optimal, diverse lead shortlist.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pillars form the core foundation of HelixQ:</a:t>
            </a:r>
          </a:p>
          <a:p>
            <a:r>
              <a:t>1. ESM-2 Deep Learning transformer model allows fast, sequence-level affinity prediction.</a:t>
            </a:r>
          </a:p>
          <a:p>
            <a:r>
              <a:t>2. RDKit provides rigorous drug-likeness filtering and fingerprint generation.</a:t>
            </a:r>
          </a:p>
          <a:p>
            <a:r>
              <a:t>3. D-Wave QUBO quantum annealing guarantees that the shortlisted candidate set is not only high-binding but chemically diverse.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HelixQ is engineered with a clean, decoupled client-server architecture.</a:t>
            </a:r>
          </a:p>
          <a:p>
            <a:r>
              <a:t>The frontend is a single-page React 18 application with WebGL 3D molecular rendering.</a:t>
            </a:r>
          </a:p>
          <a:p>
            <a:r>
              <a:t>The backend is a high-throughput FastAPI service interacting asynchronously with PostgreSQL 15 and specialized compute engines for PyTorch, RDKit, and D-Wave Ocean.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quality is paramount. HelixQ connects directly to UniProt REST APIs to pull target sequences and compute primary physicochemical properties like isoelectric point and amino acid ratios.</a:t>
            </a:r>
          </a:p>
          <a:p/>
          <a:p>
            <a:r>
              <a:t>On the chemical side, HelixQ ingests compound libraries from ChEMBL, canonicalizes SMILES strings, checks Lipinski parameters, and calculates 2048-bit Morgan Fingerprints for Tanimoto distance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explains our core innovation: QUBO quantum combinatorial optimization.</a:t>
            </a:r>
          </a:p>
          <a:p/>
          <a:p>
            <a:r>
              <a:t>Instead of greedily picking top predicted binders that all share identical chemical scaffolds, we construct a Hamiltonian energy matrix.</a:t>
            </a:r>
          </a:p>
          <a:p>
            <a:r>
              <a:t>Linear terms reward high binding affinity (pKd), while quadratic cross-terms penalize Tanimoto structural similarity. D-Wave Ocean's sampler finds global energy minima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experience is crucial for biotech researchers. HelixQ delivers a rich dark glassmorphic single-page application.</a:t>
            </a:r>
          </a:p>
          <a:p/>
          <a:p>
            <a:r>
              <a:t>Using Three.js, researchers can interactively inspect candidate molecules in 3D WebGL space. Recharts and Framer Motion provide fluid telemetry, interactive QUBO parameter tuning, and explainable AI heatmaps.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HelixQ doesn't stop at AI predictions. It bridges computational predictions with laboratory execution.</a:t>
            </a:r>
          </a:p>
          <a:p/>
          <a:p>
            <a:r>
              <a:t>Our Human-in-the-Loop module lets scientists log validation sign-offs and notes. Then, our export engine generates publication-ready PDF reports, CSV data streams, and JSON payloads for robotic synthesis stations.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HelixQ is not a conceptual mockup — it is fully verified and benchmarked.</a:t>
            </a:r>
          </a:p>
          <a:p/>
          <a:p>
            <a:r>
              <a:t>Our end-to-end PyTest suite passes 100% across all 13 REST API endpoints. The frontend compiles cleanly with zero TypeScript errors. System benchmarks show sub-second execution across sequence fetching, affinity inference, and QUBO annealing.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our strategic roadmap expands HelixQ into a full enterprise biotech ecosystem.</a:t>
            </a:r>
          </a:p>
          <a:p/>
          <a:p>
            <a:r>
              <a:t>Phase 1 is live today. Phase 2 introduces direct cloud connection to D-Wave's 5000+ qubit Advantage QPU and physics-based AutoDock Vina simulation. Phase 3 scales to multi-tenant cloud Kubernetes and robotic wet-lab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HelixQ turns complex computational biology into actionable, diverse lead compounds for therapeutic target discovery.</a:t>
            </a:r>
          </a:p>
          <a:p/>
          <a:p>
            <a:r>
              <a:t>Thank you for your time, and we welcome any questions or live demonstration requests.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F0FF"/>
                </a:solidFill>
                <a:latin typeface="Arial"/>
              </a:defRPr>
            </a:pPr>
            <a:r>
              <a:t>HELIXQ</a:t>
            </a:r>
          </a:p>
          <a:p>
            <a:pPr>
              <a:spcBef>
                <a:spcPts val="14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Next-Generation Quantum-Accelerated AI Drug Discovery &amp; Virtual Screening Platform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Unifying Deep Learning Protein Embeddings (ESM-2), RDKit Cheminformatics &amp; D-Wave QUBO Quantum Annealing</a:t>
            </a:r>
          </a:p>
          <a:p>
            <a:pPr>
              <a:spcBef>
                <a:spcPts val="2800"/>
              </a:spcBef>
              <a:defRPr sz="1200" b="1">
                <a:solidFill>
                  <a:srgbClr val="10B981"/>
                </a:solidFill>
                <a:latin typeface="Arial"/>
              </a:defRPr>
            </a:pPr>
            <a:r>
              <a:t>Executive Architecture &amp; Technical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INDUSTRY PROBLEM &amp;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$2.6B Drug Discovery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38404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Physical Wet-Lab Screening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Astronomical Costs: Developing a single approved drug costs over $2.6 Billion.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Extreme Timelines: 10 to 15 years required from target identification to clinical approval.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Low Hit Rates: Physical assaying of millions of small molecules is financially unfeasible.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Combinatorial Explosion: Selecting non-redundant lead candidates from chemical space grows exponentially.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38404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Classical Computational Limits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Affinity vs. Scale Trade-off: Legacy docking algorithms require heavy 3D structures and struggle to scale.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Chemical Redundancy: Classical greedy algorithms pick top binders that are structural analogues of each other.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Lack of Unified Pipeline: Disconnected tools for sequence fetching, property calculation, and optimization.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Slow Iteration Loops: Disconnected human scientist validation from computational pipelines.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HELIXQ IMPACT: Compress candidate selection timelines from months to seconds while enforcing chemical diversity and drug-likeness.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THE HELIXQ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Unified Multi-Stage Screening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1. Target Intelligence</a:t>
            </a:r>
          </a:p>
          <a:p>
            <a:pPr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UniProt REST Fetching</a:t>
            </a:r>
            <a:br/>
            <a:r>
              <a:t>Sequence Analysis</a:t>
            </a:r>
            <a:br/>
            <a:r>
              <a:t>MW, pI, Charge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2. Cheminformatics</a:t>
            </a:r>
          </a:p>
          <a:p>
            <a:pPr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ChEMBL Dataset Import</a:t>
            </a:r>
            <a:br/>
            <a:r>
              <a:t>Lipinski Rule of 5</a:t>
            </a:r>
            <a:br/>
            <a:r>
              <a:t>Morgan Fingerprints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3. AI Binding Affinity</a:t>
            </a:r>
          </a:p>
          <a:p>
            <a:pPr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ESM-2 Cross-Attention</a:t>
            </a:r>
            <a:br/>
            <a:r>
              <a:t>Predict pKd Score</a:t>
            </a:r>
            <a:br/>
            <a:r>
              <a:t>Confidence 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40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4. Quantum Selection</a:t>
            </a:r>
          </a:p>
          <a:p>
            <a:pPr>
              <a:spcBef>
                <a:spcPts val="2000"/>
              </a:spcBef>
              <a:defRPr sz="1400">
                <a:solidFill>
                  <a:srgbClr val="F8FAFC"/>
                </a:solidFill>
              </a:defRPr>
            </a:pPr>
            <a:r>
              <a:t>D-Wave Ocean QUBO</a:t>
            </a:r>
            <a:br/>
            <a:r>
              <a:t>Tanimoto Diversity</a:t>
            </a:r>
            <a:br/>
            <a:r>
              <a:t>Optimal Shortlist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126480"/>
            <a:ext cx="10728655" cy="5029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722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94A3B8"/>
                </a:solidFill>
              </a:defRPr>
            </a:pPr>
            <a:r>
              <a:t>Seamless Data Flow: UniProt Target -&gt; ChEMBL Library -&gt; ESM-2 Deep Learning -&gt; D-Wave QUBO Solver -&gt; Exportable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DEEP LEARNING, CHEMINFORMATICS &amp; QUANTUM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Technological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ESM-2 Deep Learning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PyTorch Cross-Attention ML Engine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Uses Evolutionary Scale Modeling (ESM-2) transformer sequence representations.</a:t>
            </a:r>
            <a:br/>
            <a:r>
              <a:t>• Predicts binding affinity (pKd) directly from amino acid sequences and SMILES strings.</a:t>
            </a:r>
            <a:br/>
            <a:r>
              <a:t>• Eliminates the bottleneck of requiring expensive experimental 3D crystal structures.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RDKit Cheminformatics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Molecular Property &amp; Structural Engine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Evaluates Lipinski Rule of 5 parameters (MW &lt;= 500, LogP &lt;= 5, HBD &lt;= 5, HBA &lt;= 10).</a:t>
            </a:r>
            <a:br/>
            <a:r>
              <a:t>• Computes TPSA, Rotatable Bonds, and Aromatic Ring counts.</a:t>
            </a:r>
            <a:br/>
            <a:r>
              <a:t>• Generates 2048-bit Morgan Fingerprints for Tanimoto distance matrix calculations.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D-Wave QUBO Sampler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Quantum Combinatorial Optimization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Formulates candidate selection as Quadratic Unconstrained Binary Optimization (QUBO).</a:t>
            </a:r>
            <a:br/>
            <a:r>
              <a:t>• Minimizes Hamiltonian energy balancing binding affinity, Lipinski scores, and redundancy penalties.</a:t>
            </a:r>
            <a:br/>
            <a:r>
              <a:t>• Solves multi-objective lead optimization in milliseconds via simulated annealing.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SYSTEM DESIGN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Decoupled Modern Software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Enterprise Technology Stack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Frontend SPA: </a:t>
            </a:r>
            <a:r>
              <a:rPr b="0">
                <a:solidFill>
                  <a:srgbClr val="F8FAFC"/>
                </a:solidFill>
              </a:rPr>
              <a:t>React 18, TypeScript, Vite, Tailwind CSS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3D &amp; Analytics: </a:t>
            </a:r>
            <a:r>
              <a:rPr b="0">
                <a:solidFill>
                  <a:srgbClr val="F8FAFC"/>
                </a:solidFill>
              </a:rPr>
              <a:t>Three.js WebGL Molecule Canvas, Recharts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Backend Gateway: </a:t>
            </a:r>
            <a:r>
              <a:rPr b="0">
                <a:solidFill>
                  <a:srgbClr val="F8FAFC"/>
                </a:solidFill>
              </a:rPr>
              <a:t>FastAPI Python, OAuth2 JWT, Pydantic v2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Database ORM: </a:t>
            </a:r>
            <a:r>
              <a:rPr b="0">
                <a:solidFill>
                  <a:srgbClr val="F8FAFC"/>
                </a:solidFill>
              </a:rPr>
              <a:t>PostgreSQL 15+, SQLAlchemy 2.0 AsyncIO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AI / ML Engine: </a:t>
            </a:r>
            <a:r>
              <a:rPr b="0">
                <a:solidFill>
                  <a:srgbClr val="F8FAFC"/>
                </a:solidFill>
              </a:rPr>
              <a:t>PyTorch, ESM-2 Transformer Embeddings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Cheminformatics: </a:t>
            </a:r>
            <a:r>
              <a:rPr b="0">
                <a:solidFill>
                  <a:srgbClr val="F8FAFC"/>
                </a:solidFill>
              </a:rPr>
              <a:t>RDKit C++ / Python Wrapper</a:t>
            </a:r>
          </a:p>
          <a:p>
            <a:pPr>
              <a:spcBef>
                <a:spcPts val="800"/>
              </a:spcBef>
              <a:defRPr b="1" sz="1300">
                <a:solidFill>
                  <a:srgbClr val="10B981"/>
                </a:solidFill>
              </a:defRPr>
            </a:pPr>
            <a:r>
              <a:t>• Quantum Engine: </a:t>
            </a:r>
            <a:r>
              <a:rPr b="0">
                <a:solidFill>
                  <a:srgbClr val="F8FAFC"/>
                </a:solidFill>
              </a:rPr>
              <a:t>D-Wave Ocean SDK (QUBO Matrix Sampler)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554480"/>
            <a:ext cx="448056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73736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Architectural Principles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Async IO Engine: Non-blocking FastAPI request handling backed by SQLAlchemy 2.0 async sessions.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Type Safety: Strict end-to-end typing via TypeScript interface schemas and Python Pydantic models.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Relational Persistence: 12 normalized SQL tables managing users, targets, drugs, predictions, and quantum jobs.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WebGL Hardware Acceleration: Three.js molecular canvas rendering complex 3D atomic structures at 60 FPS.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DATA INGESTION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Protein &amp; Molecular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38404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Protein Target Intelligence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UniProt REST Integration: Automated search and retrieval by accession ID (e.g., P00533 EGFR).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FASTA Sequence Parsing: Real-time calculation of sequence length and molecular weight.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Isoelectric Point (pI): Computed via Bjellqvist amino acid pKa scales.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Amino Acid Composition: Categorized by Hydrophobic, Polar, Acidic, and Basic percentage ratios.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38404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Ligand Cheminformatics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ChEMBL Database Fetching: Bulk bioactivity dataset ingestion for specific target proteins.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SMILES Validation: Canonicalization and parsing using RDKit C++ kernel.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Lipinski Rule of 5: Automatic scoring of MW, LogP, HBD, HBA, and TPSA descriptors.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Morgan Fingerprints: 2048-bit circular bit vectors generated for precise Tanimoto similarity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3383280" cy="8229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F0FF"/>
                </a:solidFill>
              </a:defRPr>
            </a:pPr>
            <a:r>
              <a:t>100% Sequence Coverage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UniProt REST &amp; FASTA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577840"/>
            <a:ext cx="3383280" cy="8229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366F1"/>
                </a:solidFill>
              </a:defRPr>
            </a:pPr>
            <a:r>
              <a:t>2048-bit Fingerprints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Morgan Structural Bit-vectors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577840"/>
            <a:ext cx="3383280" cy="8229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56235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&lt; 10 ms Parsing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RDKit Fast SMILES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D-WAVE QUBO &amp; HAMILTONIAN ENERGY MINIMIZATION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Quantum Combinatorial Candidate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0FF"/>
                </a:solidFill>
              </a:defRPr>
            </a:pPr>
            <a:r>
              <a:t>QUBO Hamiltonian Objective Function: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H(x) = - α Σ (pKd_i * x_i) + β Σ (LipinskiPenalty_i * x_i) + γ Σ Σ (TanimotoSimilarity_ij * x_i * x_j)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35661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Why QUBO Formulation?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Solves NP-Hard Selection: Selects K optimal leads from N candidates where N can be millions.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Maximizes Binding Affinity: Positive linear weight (α) prioritizes high pKd predictions.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Enforces Drug-likeness: Penalty weight (β) penalizes compounds violating Lipinski constraints.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Eliminates Structural Redundancy: Quadratic weight (γ) penalizes pairs with high Tanimoto similarity.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212080" cy="356616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D-Wave Ocean Execution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Simulated Annealing: Solves QUBO matrix using D-Wave Ocean `dwave-neal` sampler.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Energy Minimization: Explores quantum-inspired energy landscapes to find global minima.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Sub-Second Performance: Executes 1,000 annealing reads in under 50 milliseconds.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Audit Trail: Logs QUBO energy values, runtime milliseconds, and selected candidate IDs into PostgreSQL.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FRONTEND EXPERIENCE &amp;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Next-Gen Web UI &amp; 3D WebGL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Three.js WebGL 3D Molecule Viewer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Real-Time Hardware Acceleration: Renders 3D atomic structures directly in browser using Three.js WebGL shader pipelines.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Interactive Molecular Manipulation: Full 360° orbital rotation, smooth zoom, and pan controls.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Multiple Visualization Modes: Ball-and-stick, stick representation, space-filling CPK, and wireframe styles.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Atomic Color Coding: CPK standard coloring for Carbon, Nitrogen, Oxygen, Sulfur, and Fluorine atoms.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Real-Time Telemetry &amp; Analytics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Recharts Visualization Suite: Telemetry histograms, binding affinity distribution curves, and doughnut charts.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Framer Motion Animations: Smooth slide-out Candidate Drawers, modal dialogs, and dynamic tab transitions.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Interactive QUBO Sliders: Live tuning of Alpha, Beta, and Gamma weights with instant convergence re-calculation.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XAI Heatmaps: Cross-attention matrix heatmaps detailing atom-residue binding contributions.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HUMAN-IN-THE-LOOP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Expert Validation &amp; Publication Exports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Human-in-the-Loop Validation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Scientist Sign-Off Workflow: Allows senior biotechs to review AI + Quantum predictions before wet-lab synthesis.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Decision States: APPROVED, REJECTED, or NEEDS_FURTHER_VALIDATION status flags.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Experimental Protocol Logging: Records experimental assay methods (e.g. SPR, MST, Kinase Assay) and notes.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Audit Trail Integrity: Saves scientist name, timestamp, and confidence rating into PostgreSQL.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Multi-Format Export Engine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Publication-Grade PDF Reports: Assembles comprehensive research manuscripts with target properties, candidate rankings, and validation logs.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CSV Dataset Stream: One-click export of structured compound libraries, SMILES, Lipinski scores, and pKd values.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Raw JSON Payloads: Machine-readable API outputs for integration with automated robotic wet-lab synthesis stations.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Persistent Blobs: Binary PDF reports stored and retrievable via FastAPI streaming endpoints.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VERIFICATION &amp;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Empirical Validation &amp; System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1887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100% PyTest E2E Pass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13/13 API Test Modules Passed Cleanly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11887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645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366F1"/>
                </a:solidFill>
              </a:defRPr>
            </a:pPr>
            <a:r>
              <a:t>0 Build Errors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Vite Frontend Bundled in 11.18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118872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645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100% Schema Integrity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12 Normalized PostgreSQL Relational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698480" cy="329184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26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HelixQ System Benchmark Metrics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UniProt Sequence Fetching: </a:t>
            </a:r>
            <a:r>
              <a:rPr b="1">
                <a:solidFill>
                  <a:srgbClr val="10B981"/>
                </a:solidFill>
              </a:rPr>
              <a:t>[&lt; 350 ms] </a:t>
            </a:r>
            <a:r>
              <a:rPr b="0">
                <a:solidFill>
                  <a:srgbClr val="94A3B8"/>
                </a:solidFill>
              </a:rPr>
              <a:t>— Rest API querying + physicochemical composition calculation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ChEMBL Ingestion &amp; SMILES Parsing: </a:t>
            </a:r>
            <a:r>
              <a:rPr b="1">
                <a:solidFill>
                  <a:srgbClr val="10B981"/>
                </a:solidFill>
              </a:rPr>
              <a:t>[&lt; 1,200 ms] </a:t>
            </a:r>
            <a:r>
              <a:rPr b="0">
                <a:solidFill>
                  <a:srgbClr val="94A3B8"/>
                </a:solidFill>
              </a:rPr>
              <a:t>— 50 compounds canonicalized + Lipinski Ro5 evaluated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ESM-2 Binding Affinity Inference: </a:t>
            </a:r>
            <a:r>
              <a:rPr b="1">
                <a:solidFill>
                  <a:srgbClr val="10B981"/>
                </a:solidFill>
              </a:rPr>
              <a:t>[&lt; 80 ms / pair] </a:t>
            </a:r>
            <a:r>
              <a:rPr b="0">
                <a:solidFill>
                  <a:srgbClr val="94A3B8"/>
                </a:solidFill>
              </a:rPr>
              <a:t>— Cross-attention PyTorch tensor forward pass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D-Wave QUBO Simulated Annealing: </a:t>
            </a:r>
            <a:r>
              <a:rPr b="1">
                <a:solidFill>
                  <a:srgbClr val="10B981"/>
                </a:solidFill>
              </a:rPr>
              <a:t>[&lt; 45 ms] </a:t>
            </a:r>
            <a:r>
              <a:rPr b="0">
                <a:solidFill>
                  <a:srgbClr val="94A3B8"/>
                </a:solidFill>
              </a:rPr>
              <a:t>— 1,000 reads on 50x50 Hamiltonian matrix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• PDF Manuscript Report Assembly: </a:t>
            </a:r>
            <a:r>
              <a:rPr b="1">
                <a:solidFill>
                  <a:srgbClr val="10B981"/>
                </a:solidFill>
              </a:rPr>
              <a:t>[&lt; 250 ms] </a:t>
            </a:r>
            <a:r>
              <a:rPr b="0">
                <a:solidFill>
                  <a:srgbClr val="94A3B8"/>
                </a:solidFill>
              </a:rPr>
              <a:t>— ReportLab binary PDF document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Arial"/>
              </a:defRPr>
            </a:pPr>
            <a:r>
              <a:t>GROWTH STRATEGY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Future Roadmap &amp; Enterprise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Phase 1: Current Release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Production Core Engine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Virtual screening &amp; ESM-2 pKd prediction.</a:t>
            </a:r>
            <a:br/>
            <a:r>
              <a:t>• D-Wave simulated annealing QUBO solver.</a:t>
            </a:r>
            <a:br/>
            <a:r>
              <a:t>• Human-in-the-loop scientist sign-offs.</a:t>
            </a:r>
            <a:br/>
            <a:r>
              <a:t>• PDF/CSV publication exports.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366F1"/>
                </a:solidFill>
              </a:defRPr>
            </a:pPr>
            <a:r>
              <a:t>Phase 2: Near-Term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Quantum Hardware &amp; Docking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Direct integration with D-Wave Advantage QPU.</a:t>
            </a:r>
            <a:br/>
            <a:r>
              <a:t>• Multi-target polypharmacology screening.</a:t>
            </a:r>
            <a:br/>
            <a:r>
              <a:t>• AutoDock Vina physics-based docking engine.</a:t>
            </a:r>
            <a:br/>
            <a:r>
              <a:t>• Active learning feedback from assay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Phase 3: Enterprise</a:t>
            </a:r>
          </a:p>
          <a:p>
            <a:pPr>
              <a:spcBef>
                <a:spcPts val="400"/>
              </a:spcBef>
              <a:defRPr sz="1200" b="1">
                <a:solidFill>
                  <a:srgbClr val="94A3B8"/>
                </a:solidFill>
              </a:defRPr>
            </a:pPr>
            <a:r>
              <a:t>Cloud SaaS &amp; Automation</a:t>
            </a:r>
          </a:p>
          <a:p>
            <a:pPr>
              <a:spcBef>
                <a:spcPts val="1600"/>
              </a:spcBef>
              <a:defRPr sz="1300">
                <a:solidFill>
                  <a:srgbClr val="F8FAFC"/>
                </a:solidFill>
              </a:defRPr>
            </a:pPr>
            <a:r>
              <a:t>• Cloud SaaS deployment (Kubernetes &amp; Multi-tenant DB).</a:t>
            </a:r>
            <a:br/>
            <a:r>
              <a:t>• Automated wet-lab robotic synthesis integration.</a:t>
            </a:r>
            <a:br/>
            <a:r>
              <a:t>• Federated learning on proprietary pharma data.</a:t>
            </a:r>
            <a:br/>
            <a:r>
              <a:t>• FDA regulatory filing documentation generator.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51D2E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8534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0FF"/>
                </a:solidFill>
              </a:defRPr>
            </a:pPr>
            <a:r>
              <a:t>Transforming Drug Discovery with HelixQ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</a:defRPr>
            </a:pPr>
            <a:r>
              <a:t>Accelerating lead discovery from years to seconds using unified AI and Quantum Computing.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✅ Proven Technology Stack: Decoupled React 18, FastAPI, PyTorch, RDKit &amp; D-Wave Ocean SDK.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✅ High-Precision Selection: ESM-2 transformer predictions combined with QUBO diversity penalties.</a:t>
            </a:r>
          </a:p>
          <a:p>
            <a:pPr>
              <a:spcBef>
                <a:spcPts val="1400"/>
              </a:spcBef>
              <a:defRPr sz="1400">
                <a:solidFill>
                  <a:srgbClr val="F8FAFC"/>
                </a:solidFill>
              </a:defRPr>
            </a:pPr>
            <a:r>
              <a:t>✅ Enterprise Ready: Human-in-the-loop sign-offs, publication PDF exports, and 100% passing test suite.</a:t>
            </a:r>
          </a:p>
          <a:p>
            <a:pPr>
              <a:spcBef>
                <a:spcPts val="2800"/>
              </a:spcBef>
              <a:defRPr sz="1600" b="1">
                <a:solidFill>
                  <a:srgbClr val="10B981"/>
                </a:solidFill>
              </a:defRPr>
            </a:pPr>
            <a:r>
              <a:t>Ready to accelerate your biotech pipeline? Experience HelixQ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